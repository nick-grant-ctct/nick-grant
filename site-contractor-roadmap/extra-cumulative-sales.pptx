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is the gap between the two lines on the previous slide (Added capacity minus Current capacity), shown as the orange segment. The gap stays modest through 2030 and compounds after table stakes. Numbers are rough estimates digitised from that chart, not a new forecast.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8321040" cy="384048"/>
          </a:xfrm>
          <a:prstGeom prst="rect">
            <a:avLst/>
          </a:prstGeom>
          <a:noFill/>
        </p:spPr>
        <p:txBody>
          <a:bodyPr wrap="square" anchor="t">
            <a:spAutoFit/>
          </a:bodyPr>
          <a:lstStyle/>
          <a:p>
            <a:pPr algn="l"/>
            <a:r>
              <a:rPr sz="2400" b="1">
                <a:solidFill>
                  <a:srgbClr val="595959"/>
                </a:solidFill>
                <a:latin typeface="Inter"/>
              </a:rPr>
              <a:t>Added capacity accumulates extra system sales</a:t>
            </a:r>
          </a:p>
        </p:txBody>
      </p:sp>
      <p:sp>
        <p:nvSpPr>
          <p:cNvPr id="4" name="TextBox 3"/>
          <p:cNvSpPr txBox="1"/>
          <p:nvPr/>
        </p:nvSpPr>
        <p:spPr>
          <a:xfrm>
            <a:off x="411480" y="640080"/>
            <a:ext cx="8321040" cy="292608"/>
          </a:xfrm>
          <a:prstGeom prst="rect">
            <a:avLst/>
          </a:prstGeom>
          <a:noFill/>
        </p:spPr>
        <p:txBody>
          <a:bodyPr wrap="square" anchor="t">
            <a:spAutoFit/>
          </a:bodyPr>
          <a:lstStyle/>
          <a:p>
            <a:pPr algn="l"/>
            <a:r>
              <a:rPr sz="1200" b="0">
                <a:solidFill>
                  <a:srgbClr val="8A8A8A"/>
                </a:solidFill>
                <a:latin typeface="Inter"/>
              </a:rPr>
              <a:t>Cumulative extra vs the current-capacity path (same rough estimates as the previous slide).</a:t>
            </a:r>
          </a:p>
        </p:txBody>
      </p:sp>
      <p:sp>
        <p:nvSpPr>
          <p:cNvPr id="5" name="TextBox 4"/>
          <p:cNvSpPr txBox="1"/>
          <p:nvPr/>
        </p:nvSpPr>
        <p:spPr>
          <a:xfrm>
            <a:off x="256032" y="4233672"/>
            <a:ext cx="749808" cy="219456"/>
          </a:xfrm>
          <a:prstGeom prst="rect">
            <a:avLst/>
          </a:prstGeom>
          <a:noFill/>
        </p:spPr>
        <p:txBody>
          <a:bodyPr wrap="square" anchor="ctr">
            <a:spAutoFit/>
          </a:bodyPr>
          <a:lstStyle/>
          <a:p>
            <a:pPr algn="r"/>
            <a:r>
              <a:rPr sz="1000" b="0">
                <a:solidFill>
                  <a:srgbClr val="8A8A8A"/>
                </a:solidFill>
                <a:latin typeface="Inter"/>
              </a:rPr>
              <a:t>0</a:t>
            </a:r>
          </a:p>
        </p:txBody>
      </p:sp>
      <p:sp>
        <p:nvSpPr>
          <p:cNvPr id="6" name="Rectangle 5"/>
          <p:cNvSpPr/>
          <p:nvPr/>
        </p:nvSpPr>
        <p:spPr>
          <a:xfrm>
            <a:off x="1051560" y="3415938"/>
            <a:ext cx="5989320" cy="127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3306210"/>
            <a:ext cx="749808" cy="219456"/>
          </a:xfrm>
          <a:prstGeom prst="rect">
            <a:avLst/>
          </a:prstGeom>
          <a:noFill/>
        </p:spPr>
        <p:txBody>
          <a:bodyPr wrap="square" anchor="ctr">
            <a:spAutoFit/>
          </a:bodyPr>
          <a:lstStyle/>
          <a:p>
            <a:pPr algn="r"/>
            <a:r>
              <a:rPr sz="1000" b="0">
                <a:solidFill>
                  <a:srgbClr val="8A8A8A"/>
                </a:solidFill>
                <a:latin typeface="Inter"/>
              </a:rPr>
              <a:t>2,000</a:t>
            </a:r>
          </a:p>
        </p:txBody>
      </p:sp>
      <p:sp>
        <p:nvSpPr>
          <p:cNvPr id="8" name="Rectangle 7"/>
          <p:cNvSpPr/>
          <p:nvPr/>
        </p:nvSpPr>
        <p:spPr>
          <a:xfrm>
            <a:off x="1051560" y="2488475"/>
            <a:ext cx="5989320" cy="127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2378747"/>
            <a:ext cx="749808" cy="219456"/>
          </a:xfrm>
          <a:prstGeom prst="rect">
            <a:avLst/>
          </a:prstGeom>
          <a:noFill/>
        </p:spPr>
        <p:txBody>
          <a:bodyPr wrap="square" anchor="ctr">
            <a:spAutoFit/>
          </a:bodyPr>
          <a:lstStyle/>
          <a:p>
            <a:pPr algn="r"/>
            <a:r>
              <a:rPr sz="1000" b="0">
                <a:solidFill>
                  <a:srgbClr val="8A8A8A"/>
                </a:solidFill>
                <a:latin typeface="Inter"/>
              </a:rPr>
              <a:t>4,000</a:t>
            </a:r>
          </a:p>
        </p:txBody>
      </p:sp>
      <p:sp>
        <p:nvSpPr>
          <p:cNvPr id="10" name="Rectangle 9"/>
          <p:cNvSpPr/>
          <p:nvPr/>
        </p:nvSpPr>
        <p:spPr>
          <a:xfrm>
            <a:off x="1051560" y="1561012"/>
            <a:ext cx="5989320" cy="127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032" y="1451284"/>
            <a:ext cx="749808" cy="219456"/>
          </a:xfrm>
          <a:prstGeom prst="rect">
            <a:avLst/>
          </a:prstGeom>
          <a:noFill/>
        </p:spPr>
        <p:txBody>
          <a:bodyPr wrap="square" anchor="ctr">
            <a:spAutoFit/>
          </a:bodyPr>
          <a:lstStyle/>
          <a:p>
            <a:pPr algn="r"/>
            <a:r>
              <a:rPr sz="1000" b="0">
                <a:solidFill>
                  <a:srgbClr val="8A8A8A"/>
                </a:solidFill>
                <a:latin typeface="Inter"/>
              </a:rPr>
              <a:t>6,000</a:t>
            </a:r>
          </a:p>
        </p:txBody>
      </p:sp>
      <p:sp>
        <p:nvSpPr>
          <p:cNvPr id="12" name="TextBox 11"/>
          <p:cNvSpPr txBox="1"/>
          <p:nvPr/>
        </p:nvSpPr>
        <p:spPr>
          <a:xfrm>
            <a:off x="201168" y="960120"/>
            <a:ext cx="1280160" cy="201168"/>
          </a:xfrm>
          <a:prstGeom prst="rect">
            <a:avLst/>
          </a:prstGeom>
          <a:noFill/>
        </p:spPr>
        <p:txBody>
          <a:bodyPr wrap="square" anchor="t">
            <a:spAutoFit/>
          </a:bodyPr>
          <a:lstStyle/>
          <a:p>
            <a:pPr algn="l"/>
            <a:r>
              <a:rPr sz="1000" b="1">
                <a:solidFill>
                  <a:srgbClr val="595959"/>
                </a:solidFill>
                <a:latin typeface="Inter"/>
              </a:rPr>
              <a:t>System sales</a:t>
            </a:r>
          </a:p>
        </p:txBody>
      </p:sp>
      <p:sp>
        <p:nvSpPr>
          <p:cNvPr id="13" name="Rectangle 12"/>
          <p:cNvSpPr/>
          <p:nvPr/>
        </p:nvSpPr>
        <p:spPr>
          <a:xfrm>
            <a:off x="1051560" y="4343400"/>
            <a:ext cx="5989320" cy="1905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51560" y="1097280"/>
            <a:ext cx="19050" cy="324612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65885" y="4273841"/>
            <a:ext cx="868680" cy="69559"/>
          </a:xfrm>
          <a:prstGeom prst="rect">
            <a:avLst/>
          </a:prstGeom>
          <a:solidFill>
            <a:srgbClr val="8A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65885" y="4204282"/>
            <a:ext cx="868680" cy="69559"/>
          </a:xfrm>
          <a:prstGeom prst="rect">
            <a:avLst/>
          </a:prstGeom>
          <a:solidFill>
            <a:srgbClr val="FF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56157" y="3948250"/>
            <a:ext cx="1088136" cy="237744"/>
          </a:xfrm>
          <a:prstGeom prst="rect">
            <a:avLst/>
          </a:prstGeom>
          <a:noFill/>
        </p:spPr>
        <p:txBody>
          <a:bodyPr wrap="square" anchor="t">
            <a:spAutoFit/>
          </a:bodyPr>
          <a:lstStyle/>
          <a:p>
            <a:pPr algn="ctr"/>
            <a:r>
              <a:rPr sz="1000" b="0">
                <a:solidFill>
                  <a:srgbClr val="595959"/>
                </a:solidFill>
                <a:latin typeface="Inter"/>
              </a:rPr>
              <a:t>300</a:t>
            </a:r>
          </a:p>
        </p:txBody>
      </p:sp>
      <p:sp>
        <p:nvSpPr>
          <p:cNvPr id="18" name="TextBox 17"/>
          <p:cNvSpPr txBox="1"/>
          <p:nvPr/>
        </p:nvSpPr>
        <p:spPr>
          <a:xfrm>
            <a:off x="2271141" y="4167706"/>
            <a:ext cx="640080" cy="219456"/>
          </a:xfrm>
          <a:prstGeom prst="rect">
            <a:avLst/>
          </a:prstGeom>
          <a:noFill/>
        </p:spPr>
        <p:txBody>
          <a:bodyPr wrap="square" anchor="t">
            <a:spAutoFit/>
          </a:bodyPr>
          <a:lstStyle/>
          <a:p>
            <a:pPr algn="l"/>
            <a:r>
              <a:rPr sz="1000" b="1">
                <a:solidFill>
                  <a:srgbClr val="FF8B00"/>
                </a:solidFill>
                <a:latin typeface="Inter"/>
              </a:rPr>
              <a:t>+150</a:t>
            </a:r>
          </a:p>
        </p:txBody>
      </p:sp>
      <p:sp>
        <p:nvSpPr>
          <p:cNvPr id="19" name="TextBox 18"/>
          <p:cNvSpPr txBox="1"/>
          <p:nvPr/>
        </p:nvSpPr>
        <p:spPr>
          <a:xfrm>
            <a:off x="1228725" y="4398264"/>
            <a:ext cx="1143000" cy="219456"/>
          </a:xfrm>
          <a:prstGeom prst="rect">
            <a:avLst/>
          </a:prstGeom>
          <a:noFill/>
        </p:spPr>
        <p:txBody>
          <a:bodyPr wrap="square" anchor="t">
            <a:spAutoFit/>
          </a:bodyPr>
          <a:lstStyle/>
          <a:p>
            <a:pPr algn="ctr"/>
            <a:r>
              <a:rPr sz="1200" b="0">
                <a:solidFill>
                  <a:srgbClr val="595959"/>
                </a:solidFill>
                <a:latin typeface="Inter"/>
              </a:rPr>
              <a:t>2028</a:t>
            </a:r>
          </a:p>
        </p:txBody>
      </p:sp>
      <p:sp>
        <p:nvSpPr>
          <p:cNvPr id="20" name="TextBox 19"/>
          <p:cNvSpPr txBox="1"/>
          <p:nvPr/>
        </p:nvSpPr>
        <p:spPr>
          <a:xfrm>
            <a:off x="1137285" y="4599432"/>
            <a:ext cx="1325880" cy="201168"/>
          </a:xfrm>
          <a:prstGeom prst="rect">
            <a:avLst/>
          </a:prstGeom>
          <a:noFill/>
        </p:spPr>
        <p:txBody>
          <a:bodyPr wrap="square" anchor="t">
            <a:spAutoFit/>
          </a:bodyPr>
          <a:lstStyle/>
          <a:p>
            <a:pPr algn="ctr"/>
            <a:r>
              <a:rPr sz="900" b="0">
                <a:solidFill>
                  <a:srgbClr val="FF8B00"/>
                </a:solidFill>
                <a:latin typeface="Inter"/>
              </a:rPr>
              <a:t>MVP (added)</a:t>
            </a:r>
          </a:p>
        </p:txBody>
      </p:sp>
      <p:sp>
        <p:nvSpPr>
          <p:cNvPr id="21" name="Rectangle 20"/>
          <p:cNvSpPr/>
          <p:nvPr/>
        </p:nvSpPr>
        <p:spPr>
          <a:xfrm>
            <a:off x="2863215" y="3926042"/>
            <a:ext cx="868680" cy="417358"/>
          </a:xfrm>
          <a:prstGeom prst="rect">
            <a:avLst/>
          </a:prstGeom>
          <a:solidFill>
            <a:srgbClr val="8A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63215" y="3763736"/>
            <a:ext cx="868680" cy="162306"/>
          </a:xfrm>
          <a:prstGeom prst="rect">
            <a:avLst/>
          </a:prstGeom>
          <a:solidFill>
            <a:srgbClr val="FF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53487" y="3507704"/>
            <a:ext cx="1088136" cy="237744"/>
          </a:xfrm>
          <a:prstGeom prst="rect">
            <a:avLst/>
          </a:prstGeom>
          <a:noFill/>
        </p:spPr>
        <p:txBody>
          <a:bodyPr wrap="square" anchor="t">
            <a:spAutoFit/>
          </a:bodyPr>
          <a:lstStyle/>
          <a:p>
            <a:pPr algn="ctr"/>
            <a:r>
              <a:rPr sz="1000" b="0">
                <a:solidFill>
                  <a:srgbClr val="595959"/>
                </a:solidFill>
                <a:latin typeface="Inter"/>
              </a:rPr>
              <a:t>1,250</a:t>
            </a:r>
          </a:p>
        </p:txBody>
      </p:sp>
      <p:sp>
        <p:nvSpPr>
          <p:cNvPr id="24" name="TextBox 23"/>
          <p:cNvSpPr txBox="1"/>
          <p:nvPr/>
        </p:nvSpPr>
        <p:spPr>
          <a:xfrm>
            <a:off x="3768471" y="3727160"/>
            <a:ext cx="640080" cy="219456"/>
          </a:xfrm>
          <a:prstGeom prst="rect">
            <a:avLst/>
          </a:prstGeom>
          <a:noFill/>
        </p:spPr>
        <p:txBody>
          <a:bodyPr wrap="square" anchor="t">
            <a:spAutoFit/>
          </a:bodyPr>
          <a:lstStyle/>
          <a:p>
            <a:pPr algn="l"/>
            <a:r>
              <a:rPr sz="1000" b="1">
                <a:solidFill>
                  <a:srgbClr val="FF8B00"/>
                </a:solidFill>
                <a:latin typeface="Inter"/>
              </a:rPr>
              <a:t>+350</a:t>
            </a:r>
          </a:p>
        </p:txBody>
      </p:sp>
      <p:sp>
        <p:nvSpPr>
          <p:cNvPr id="25" name="TextBox 24"/>
          <p:cNvSpPr txBox="1"/>
          <p:nvPr/>
        </p:nvSpPr>
        <p:spPr>
          <a:xfrm>
            <a:off x="2726055" y="4398264"/>
            <a:ext cx="1143000" cy="219456"/>
          </a:xfrm>
          <a:prstGeom prst="rect">
            <a:avLst/>
          </a:prstGeom>
          <a:noFill/>
        </p:spPr>
        <p:txBody>
          <a:bodyPr wrap="square" anchor="t">
            <a:spAutoFit/>
          </a:bodyPr>
          <a:lstStyle/>
          <a:p>
            <a:pPr algn="ctr"/>
            <a:r>
              <a:rPr sz="1200" b="0">
                <a:solidFill>
                  <a:srgbClr val="595959"/>
                </a:solidFill>
                <a:latin typeface="Inter"/>
              </a:rPr>
              <a:t>2030</a:t>
            </a:r>
          </a:p>
        </p:txBody>
      </p:sp>
      <p:sp>
        <p:nvSpPr>
          <p:cNvPr id="26" name="TextBox 25"/>
          <p:cNvSpPr txBox="1"/>
          <p:nvPr/>
        </p:nvSpPr>
        <p:spPr>
          <a:xfrm>
            <a:off x="2543175" y="4599432"/>
            <a:ext cx="1508760" cy="201168"/>
          </a:xfrm>
          <a:prstGeom prst="rect">
            <a:avLst/>
          </a:prstGeom>
          <a:noFill/>
        </p:spPr>
        <p:txBody>
          <a:bodyPr wrap="square" anchor="t">
            <a:spAutoFit/>
          </a:bodyPr>
          <a:lstStyle/>
          <a:p>
            <a:pPr algn="ctr"/>
            <a:r>
              <a:rPr sz="900" b="0">
                <a:solidFill>
                  <a:srgbClr val="FF8B00"/>
                </a:solidFill>
                <a:latin typeface="Inter"/>
              </a:rPr>
              <a:t>Table stakes (added)</a:t>
            </a:r>
          </a:p>
        </p:txBody>
      </p:sp>
      <p:sp>
        <p:nvSpPr>
          <p:cNvPr id="27" name="Rectangle 26"/>
          <p:cNvSpPr/>
          <p:nvPr/>
        </p:nvSpPr>
        <p:spPr>
          <a:xfrm>
            <a:off x="4360545" y="2673967"/>
            <a:ext cx="868680" cy="1669433"/>
          </a:xfrm>
          <a:prstGeom prst="rect">
            <a:avLst/>
          </a:prstGeom>
          <a:solidFill>
            <a:srgbClr val="8A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60545" y="2094303"/>
            <a:ext cx="868680" cy="579664"/>
          </a:xfrm>
          <a:prstGeom prst="rect">
            <a:avLst/>
          </a:prstGeom>
          <a:solidFill>
            <a:srgbClr val="FF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50817" y="1838271"/>
            <a:ext cx="1088136" cy="237744"/>
          </a:xfrm>
          <a:prstGeom prst="rect">
            <a:avLst/>
          </a:prstGeom>
          <a:noFill/>
        </p:spPr>
        <p:txBody>
          <a:bodyPr wrap="square" anchor="t">
            <a:spAutoFit/>
          </a:bodyPr>
          <a:lstStyle/>
          <a:p>
            <a:pPr algn="ctr"/>
            <a:r>
              <a:rPr sz="1000" b="0">
                <a:solidFill>
                  <a:srgbClr val="595959"/>
                </a:solidFill>
                <a:latin typeface="Inter"/>
              </a:rPr>
              <a:t>4,850</a:t>
            </a:r>
          </a:p>
        </p:txBody>
      </p:sp>
      <p:sp>
        <p:nvSpPr>
          <p:cNvPr id="30" name="TextBox 29"/>
          <p:cNvSpPr txBox="1"/>
          <p:nvPr/>
        </p:nvSpPr>
        <p:spPr>
          <a:xfrm>
            <a:off x="4287393" y="2256119"/>
            <a:ext cx="1014984" cy="256032"/>
          </a:xfrm>
          <a:prstGeom prst="rect">
            <a:avLst/>
          </a:prstGeom>
          <a:noFill/>
        </p:spPr>
        <p:txBody>
          <a:bodyPr wrap="square" anchor="ctr">
            <a:spAutoFit/>
          </a:bodyPr>
          <a:lstStyle/>
          <a:p>
            <a:pPr algn="ctr"/>
            <a:r>
              <a:rPr sz="1100" b="1">
                <a:solidFill>
                  <a:srgbClr val="FFFFFF"/>
                </a:solidFill>
                <a:latin typeface="Inter"/>
              </a:rPr>
              <a:t>+1,250</a:t>
            </a:r>
          </a:p>
        </p:txBody>
      </p:sp>
      <p:sp>
        <p:nvSpPr>
          <p:cNvPr id="31" name="TextBox 30"/>
          <p:cNvSpPr txBox="1"/>
          <p:nvPr/>
        </p:nvSpPr>
        <p:spPr>
          <a:xfrm>
            <a:off x="4223385" y="4398264"/>
            <a:ext cx="1143000" cy="219456"/>
          </a:xfrm>
          <a:prstGeom prst="rect">
            <a:avLst/>
          </a:prstGeom>
          <a:noFill/>
        </p:spPr>
        <p:txBody>
          <a:bodyPr wrap="square" anchor="t">
            <a:spAutoFit/>
          </a:bodyPr>
          <a:lstStyle/>
          <a:p>
            <a:pPr algn="ctr"/>
            <a:r>
              <a:rPr sz="1200" b="0">
                <a:solidFill>
                  <a:srgbClr val="595959"/>
                </a:solidFill>
                <a:latin typeface="Inter"/>
              </a:rPr>
              <a:t>2032</a:t>
            </a:r>
          </a:p>
        </p:txBody>
      </p:sp>
      <p:sp>
        <p:nvSpPr>
          <p:cNvPr id="32" name="Rectangle 31"/>
          <p:cNvSpPr/>
          <p:nvPr/>
        </p:nvSpPr>
        <p:spPr>
          <a:xfrm>
            <a:off x="5857875" y="1792878"/>
            <a:ext cx="868680" cy="2550522"/>
          </a:xfrm>
          <a:prstGeom prst="rect">
            <a:avLst/>
          </a:prstGeom>
          <a:solidFill>
            <a:srgbClr val="8A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7875" y="1329147"/>
            <a:ext cx="868680" cy="463731"/>
          </a:xfrm>
          <a:prstGeom prst="rect">
            <a:avLst/>
          </a:prstGeom>
          <a:solidFill>
            <a:srgbClr val="FF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48147" y="1073115"/>
            <a:ext cx="1088136" cy="237744"/>
          </a:xfrm>
          <a:prstGeom prst="rect">
            <a:avLst/>
          </a:prstGeom>
          <a:noFill/>
        </p:spPr>
        <p:txBody>
          <a:bodyPr wrap="square" anchor="t">
            <a:spAutoFit/>
          </a:bodyPr>
          <a:lstStyle/>
          <a:p>
            <a:pPr algn="ctr"/>
            <a:r>
              <a:rPr sz="1000" b="0">
                <a:solidFill>
                  <a:srgbClr val="595959"/>
                </a:solidFill>
                <a:latin typeface="Inter"/>
              </a:rPr>
              <a:t>6,500</a:t>
            </a:r>
          </a:p>
        </p:txBody>
      </p:sp>
      <p:sp>
        <p:nvSpPr>
          <p:cNvPr id="35" name="TextBox 34"/>
          <p:cNvSpPr txBox="1"/>
          <p:nvPr/>
        </p:nvSpPr>
        <p:spPr>
          <a:xfrm>
            <a:off x="5784723" y="1432996"/>
            <a:ext cx="1014984" cy="256032"/>
          </a:xfrm>
          <a:prstGeom prst="rect">
            <a:avLst/>
          </a:prstGeom>
          <a:noFill/>
        </p:spPr>
        <p:txBody>
          <a:bodyPr wrap="square" anchor="ctr">
            <a:spAutoFit/>
          </a:bodyPr>
          <a:lstStyle/>
          <a:p>
            <a:pPr algn="ctr"/>
            <a:r>
              <a:rPr sz="1100" b="1">
                <a:solidFill>
                  <a:srgbClr val="FFFFFF"/>
                </a:solidFill>
                <a:latin typeface="Inter"/>
              </a:rPr>
              <a:t>+1,000</a:t>
            </a:r>
          </a:p>
        </p:txBody>
      </p:sp>
      <p:sp>
        <p:nvSpPr>
          <p:cNvPr id="36" name="TextBox 35"/>
          <p:cNvSpPr txBox="1"/>
          <p:nvPr/>
        </p:nvSpPr>
        <p:spPr>
          <a:xfrm>
            <a:off x="5720715" y="4398264"/>
            <a:ext cx="1143000" cy="219456"/>
          </a:xfrm>
          <a:prstGeom prst="rect">
            <a:avLst/>
          </a:prstGeom>
          <a:noFill/>
        </p:spPr>
        <p:txBody>
          <a:bodyPr wrap="square" anchor="t">
            <a:spAutoFit/>
          </a:bodyPr>
          <a:lstStyle/>
          <a:p>
            <a:pPr algn="ctr"/>
            <a:r>
              <a:rPr sz="1200" b="0">
                <a:solidFill>
                  <a:srgbClr val="595959"/>
                </a:solidFill>
                <a:latin typeface="Inter"/>
              </a:rPr>
              <a:t>2034</a:t>
            </a:r>
          </a:p>
        </p:txBody>
      </p:sp>
      <p:sp>
        <p:nvSpPr>
          <p:cNvPr id="37" name="Rectangle 36"/>
          <p:cNvSpPr/>
          <p:nvPr/>
        </p:nvSpPr>
        <p:spPr>
          <a:xfrm>
            <a:off x="7178040" y="1143000"/>
            <a:ext cx="201168" cy="146304"/>
          </a:xfrm>
          <a:prstGeom prst="rect">
            <a:avLst/>
          </a:prstGeom>
          <a:solidFill>
            <a:srgbClr val="8A91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34072" y="1106424"/>
            <a:ext cx="1554480" cy="219456"/>
          </a:xfrm>
          <a:prstGeom prst="rect">
            <a:avLst/>
          </a:prstGeom>
          <a:noFill/>
        </p:spPr>
        <p:txBody>
          <a:bodyPr wrap="square" anchor="t">
            <a:spAutoFit/>
          </a:bodyPr>
          <a:lstStyle/>
          <a:p>
            <a:pPr algn="l"/>
            <a:r>
              <a:rPr sz="1100" b="0">
                <a:solidFill>
                  <a:srgbClr val="595959"/>
                </a:solidFill>
                <a:latin typeface="Inter"/>
              </a:rPr>
              <a:t>Current capacity</a:t>
            </a:r>
          </a:p>
        </p:txBody>
      </p:sp>
      <p:sp>
        <p:nvSpPr>
          <p:cNvPr id="39" name="Rectangle 38"/>
          <p:cNvSpPr/>
          <p:nvPr/>
        </p:nvSpPr>
        <p:spPr>
          <a:xfrm>
            <a:off x="7178040" y="1435608"/>
            <a:ext cx="201168" cy="146304"/>
          </a:xfrm>
          <a:prstGeom prst="rect">
            <a:avLst/>
          </a:prstGeom>
          <a:solidFill>
            <a:srgbClr val="FF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34072" y="1399032"/>
            <a:ext cx="1554480" cy="329184"/>
          </a:xfrm>
          <a:prstGeom prst="rect">
            <a:avLst/>
          </a:prstGeom>
          <a:noFill/>
        </p:spPr>
        <p:txBody>
          <a:bodyPr wrap="square" anchor="t">
            <a:spAutoFit/>
          </a:bodyPr>
          <a:lstStyle/>
          <a:p>
            <a:pPr algn="l"/>
            <a:r>
              <a:rPr sz="1100" b="0">
                <a:solidFill>
                  <a:srgbClr val="595959"/>
                </a:solidFill>
                <a:latin typeface="Inter"/>
              </a:rPr>
              <a:t>Extra from added capacity</a:t>
            </a:r>
          </a:p>
        </p:txBody>
      </p:sp>
      <p:sp>
        <p:nvSpPr>
          <p:cNvPr id="41" name="Rectangle 40"/>
          <p:cNvSpPr/>
          <p:nvPr/>
        </p:nvSpPr>
        <p:spPr>
          <a:xfrm>
            <a:off x="7086600" y="1965960"/>
            <a:ext cx="16916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r>
              <a:rPr sz="2200" b="1">
                <a:solidFill>
                  <a:srgbClr val="FF8B00"/>
                </a:solidFill>
                <a:latin typeface="Inter"/>
              </a:rPr>
              <a:t>1,000</a:t>
            </a:r>
          </a:p>
          <a:p>
            <a:r>
              <a:rPr sz="1100" b="0">
                <a:solidFill>
                  <a:srgbClr val="595959"/>
                </a:solidFill>
                <a:latin typeface="Inter"/>
              </a:rPr>
              <a:t>extra systems by 2034 vs the current-capacity path</a:t>
            </a:r>
          </a:p>
        </p:txBody>
      </p:sp>
      <p:sp>
        <p:nvSpPr>
          <p:cNvPr id="42" name="TextBox 41"/>
          <p:cNvSpPr txBox="1"/>
          <p:nvPr/>
        </p:nvSpPr>
        <p:spPr>
          <a:xfrm>
            <a:off x="411480" y="4864608"/>
            <a:ext cx="274320" cy="201168"/>
          </a:xfrm>
          <a:prstGeom prst="rect">
            <a:avLst/>
          </a:prstGeom>
          <a:noFill/>
        </p:spPr>
        <p:txBody>
          <a:bodyPr wrap="square" anchor="t">
            <a:spAutoFit/>
          </a:bodyPr>
          <a:lstStyle/>
          <a:p>
            <a:pPr algn="l"/>
            <a:r>
              <a:rPr sz="1000" b="0">
                <a:solidFill>
                  <a:srgbClr val="8A8A8A"/>
                </a:solidFill>
                <a:latin typeface="Inter"/>
              </a:rPr>
              <a:t>6</a:t>
            </a:r>
          </a:p>
        </p:txBody>
      </p:sp>
      <p:pic>
        <p:nvPicPr>
          <p:cNvPr id="43" name="Picture 42" descr="ctct-cube.png"/>
          <p:cNvPicPr>
            <a:picLocks noChangeAspect="1"/>
          </p:cNvPicPr>
          <p:nvPr/>
        </p:nvPicPr>
        <p:blipFill>
          <a:blip r:embed="rId3"/>
          <a:stretch>
            <a:fillRect/>
          </a:stretch>
        </p:blipFill>
        <p:spPr>
          <a:xfrm>
            <a:off x="8613648" y="4736592"/>
            <a:ext cx="292608" cy="292608"/>
          </a:xfrm>
          <a:prstGeom prst="rect">
            <a:avLst/>
          </a:prstGeom>
        </p:spPr>
      </p:pic>
      <p:sp>
        <p:nvSpPr>
          <p:cNvPr id="44" name="TextBox 43"/>
          <p:cNvSpPr txBox="1"/>
          <p:nvPr/>
        </p:nvSpPr>
        <p:spPr>
          <a:xfrm>
            <a:off x="1051560" y="4864608"/>
            <a:ext cx="7132320" cy="201168"/>
          </a:xfrm>
          <a:prstGeom prst="rect">
            <a:avLst/>
          </a:prstGeom>
          <a:noFill/>
        </p:spPr>
        <p:txBody>
          <a:bodyPr wrap="square" anchor="t">
            <a:spAutoFit/>
          </a:bodyPr>
          <a:lstStyle/>
          <a:p>
            <a:pPr algn="l"/>
            <a:r>
              <a:rPr sz="800" b="0">
                <a:solidFill>
                  <a:srgbClr val="8A8A8A"/>
                </a:solidFill>
                <a:latin typeface="Inter"/>
              </a:rPr>
              <a:t>Rough estimates. Total bar = added-capacity path; gray = current path; orange = extra.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